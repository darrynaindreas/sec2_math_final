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ayfair Display"/>
      <ns0:bold ns1:id="rIdFont20"/>
      <ns0:boldItalic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455a51ed-b13a-43bf-a8c7-a1a81ea854b1.fntdata" /><ns0:Relationship Id="rIdFont21" Type="http://schemas.openxmlformats.org/officeDocument/2006/relationships/font" Target="fonts/623fb4c3-2b4a-4c0b-be79-e7021591648c.fntdata" /><ns0:Relationship Id="rIdFont22" Type="http://schemas.openxmlformats.org/officeDocument/2006/relationships/font" Target="fonts/dee40281-c740-418f-99bd-efe4fbb5e071.fntdata" /><ns0:Relationship Id="rIdFont23" Type="http://schemas.openxmlformats.org/officeDocument/2006/relationships/font" Target="fonts/2fbd0bc5-5d69-4188-8f28-2684e5ae268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577655"/>
            <a:ext cx="60960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42222" y="2242244"/>
            <a:ext cx="270755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QUADRATIC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616" y="2661344"/>
            <a:ext cx="10138767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AFAF9"/>
                </a:solidFill>
                <a:latin typeface="Playfair Display"/>
              </a:rPr>
              <a:t>From Graph to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4420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8A29E"/>
                </a:solidFill>
                <a:latin typeface="Inter"/>
              </a:rPr>
              <a:t>Decoding parabolas using vertex, intercept, and standard algebraic 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0172"/>
            <a:ext cx="3454449" cy="2243286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99605"/>
            <a:ext cx="3454449" cy="2264568"/>
          </a:xfrm>
          <a:prstGeom prst="roundRect">
            <a:avLst>
              <a:gd name="adj" fmla="val 50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31752"/>
            <a:ext cx="3454449" cy="2200275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917" y="3781722"/>
            <a:ext cx="1807815" cy="3001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422" y="3771155"/>
            <a:ext cx="2101304" cy="3214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158" y="3803302"/>
            <a:ext cx="250433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CORE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44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The Three Primary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93" y="3276897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Standard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00" y="4386708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General algebraic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643" y="3266330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Vertex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949" y="4397424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Prioritizes minimum/maximum.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893" y="3298477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Intercept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4365277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Focuses on x-axis crossings.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09600"/>
            <a:ext cx="60960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609600"/>
            <a:ext cx="6096000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22277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08077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93877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859309"/>
            <a:ext cx="533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METHOD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64109"/>
            <a:ext cx="56007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The Vertex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169890"/>
            <a:ext cx="4038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Clear turning point: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Locatable minimum or maximum.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855690"/>
            <a:ext cx="4038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Required data: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One additional random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541490"/>
            <a:ext cx="4038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Geometric pivot: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Defines the axis of symmetry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894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8050" y="318894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318894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24950" y="318894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Applying Vertex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3188940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ayfair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74740"/>
            <a:ext cx="3225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Identify 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74790"/>
            <a:ext cx="2552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716C"/>
                </a:solidFill>
                <a:latin typeface="Inter"/>
              </a:rPr>
              <a:t>Extract exact (h, k) coordinates.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5175" y="3188940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ayfair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8050" y="3874740"/>
            <a:ext cx="3225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Substitute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8050" y="4274790"/>
            <a:ext cx="2552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716C"/>
                </a:solidFill>
                <a:latin typeface="Inter"/>
              </a:rPr>
              <a:t>Plug directly into base equation.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3625" y="3188940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ayfair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3874740"/>
            <a:ext cx="3225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Select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4274790"/>
            <a:ext cx="2552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716C"/>
                </a:solidFill>
                <a:latin typeface="Inter"/>
              </a:rPr>
              <a:t>Find another distinct curve intersection.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2075" y="3188940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ayfair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4950" y="3874740"/>
            <a:ext cx="30670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Compute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4950" y="4274790"/>
            <a:ext cx="2552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716C"/>
                </a:solidFill>
                <a:latin typeface="Inter"/>
              </a:rPr>
              <a:t>Solve algebraically for stretch factor.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47975"/>
            <a:ext cx="30480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43400"/>
            <a:ext cx="30480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72100" y="2237184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100" y="2970609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72100" y="3704034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72100" y="4437459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72100" y="170378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72100" y="2437209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72100" y="317063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72100" y="3904059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4857750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21941"/>
            <a:ext cx="1955601" cy="30658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455366"/>
            <a:ext cx="1898451" cy="30658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188791"/>
            <a:ext cx="1898451" cy="30658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922216"/>
            <a:ext cx="2106810" cy="30658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4789884"/>
            <a:ext cx="2496740" cy="364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1247775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WORKED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552575"/>
            <a:ext cx="33004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C1917"/>
                </a:solidFill>
                <a:latin typeface="Playfair Display"/>
              </a:rPr>
              <a:t>Vertex Form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162300"/>
            <a:ext cx="3024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8716C"/>
                </a:solidFill>
                <a:latin typeface="Inter"/>
              </a:rPr>
              <a:t>GIVEN VERTEX (H, 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429000"/>
            <a:ext cx="30241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Inter"/>
              </a:rPr>
              <a:t>(2, -3)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4657725"/>
            <a:ext cx="3024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8716C"/>
                </a:solidFill>
                <a:latin typeface="Inter"/>
              </a:rPr>
              <a:t>GIVEN POINT (X, 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924425"/>
            <a:ext cx="30241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Inter"/>
              </a:rPr>
              <a:t>(4, 5)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9225" y="1703784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1779984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Base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9225" y="2437209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2100" y="2513409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Insert vertex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9225" y="3170634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2100" y="3246834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Insert target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9225" y="3904059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2100" y="3980259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Solve for factor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2100" y="4872037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B91C1C"/>
                </a:solidFill>
                <a:latin typeface="Inter"/>
              </a:rPr>
              <a:t>Final Equation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60960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6096000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222277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908077"/>
            <a:ext cx="1428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93877"/>
            <a:ext cx="14287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859309"/>
            <a:ext cx="4876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METHOD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64109"/>
            <a:ext cx="48768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The Intercept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0475" y="3169890"/>
            <a:ext cx="4067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Visible crossings: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Parabola perfectly hits x-axis marks.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0475" y="3855690"/>
            <a:ext cx="4067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Direct root application: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Use coordinates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0475" y="4541490"/>
            <a:ext cx="4067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Y-intercept utility: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Often provides the required third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76437" y="2426940"/>
            <a:ext cx="3929062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426940"/>
            <a:ext cx="3929062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76437" y="4122390"/>
            <a:ext cx="3929062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4122390"/>
            <a:ext cx="3929062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293176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93176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762" y="4627215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4627215"/>
            <a:ext cx="2286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144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Applying Intercept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4162" y="2741265"/>
            <a:ext cx="36317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Inter"/>
              </a:rPr>
              <a:t>Locate Roots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4162" y="3046065"/>
            <a:ext cx="28622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Inter"/>
              </a:rPr>
              <a:t>Find precise (p, 0) and (q, 0) intercepts.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4225" y="2836515"/>
            <a:ext cx="32379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Inter"/>
              </a:rPr>
              <a:t>Build Base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4225" y="3141315"/>
            <a:ext cx="3083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Inter"/>
              </a:rPr>
              <a:t>Write algebraic factored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6062" y="4436715"/>
            <a:ext cx="368171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Inter"/>
              </a:rPr>
              <a:t>Select Third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6062" y="4741515"/>
            <a:ext cx="29003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Inter"/>
              </a:rPr>
              <a:t>Choose y-intercept or defined coordinate.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4531965"/>
            <a:ext cx="343792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Inter"/>
              </a:rPr>
              <a:t>Compute Final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4836765"/>
            <a:ext cx="3274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Inter"/>
              </a:rPr>
              <a:t>Solve equation to isolate magnitude.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47975"/>
            <a:ext cx="30480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43400"/>
            <a:ext cx="30480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72100" y="2271712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100" y="3005137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72100" y="3738562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72100" y="4471987"/>
            <a:ext cx="5715000" cy="95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72100" y="17383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72100" y="24717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72100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72100" y="39385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4857750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90700"/>
            <a:ext cx="2327076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524125"/>
            <a:ext cx="2384226" cy="238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257550"/>
            <a:ext cx="2604343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990975"/>
            <a:ext cx="2411610" cy="2381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4824412"/>
            <a:ext cx="3138636" cy="2952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1247775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WORKED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552575"/>
            <a:ext cx="33004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C1917"/>
                </a:solidFill>
                <a:latin typeface="Playfair Display"/>
              </a:rPr>
              <a:t>Intercept Form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162300"/>
            <a:ext cx="3024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8716C"/>
                </a:solidFill>
                <a:latin typeface="Inter"/>
              </a:rPr>
              <a:t>GIVEN ROOTS (P, Q)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429000"/>
            <a:ext cx="30241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Inter"/>
              </a:rPr>
              <a:t>x = -1 &amp; x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4657725"/>
            <a:ext cx="3024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8716C"/>
                </a:solidFill>
                <a:latin typeface="Inter"/>
              </a:rPr>
              <a:t>GIVEN Y-INTERCEPT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924425"/>
            <a:ext cx="30241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Inter"/>
              </a:rPr>
              <a:t>(0, -6)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9225" y="173831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1814512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Base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9225" y="24717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2100" y="2547937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Insert root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9225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2100" y="3281362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Insert y-intercept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9225" y="39385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2100" y="4014787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0F172A"/>
                </a:solidFill>
                <a:latin typeface="Inter"/>
              </a:rPr>
              <a:t>Solve for factor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2100" y="4872037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B91C1C"/>
                </a:solidFill>
                <a:latin typeface="Inter"/>
              </a:rPr>
              <a:t>Final Equation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09600"/>
            <a:ext cx="60960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609600"/>
            <a:ext cx="6096000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22277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08077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93877"/>
            <a:ext cx="19050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859309"/>
            <a:ext cx="533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METHOD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64109"/>
            <a:ext cx="56007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The Standard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69890"/>
            <a:ext cx="4019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No visible vertex: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Peak falls between grid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855690"/>
            <a:ext cx="4019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No clear roots: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Crossings lack integer coordinates.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41490"/>
            <a:ext cx="4019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Three distinct points:</a:t>
            </a:r>
            <a:r>
              <a:rPr b="1" sz="1500" i="0" u="none">
                <a:solidFill>
                  <a:srgbClr val="B91C1C"/>
                </a:solidFill>
                <a:latin typeface="Inter"/>
              </a:rPr>
              <a:t> Requires system of three equations.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1863" y="1311622"/>
            <a:ext cx="618827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The Universal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7687" y="4527202"/>
            <a:ext cx="347662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C1917"/>
                </a:solidFill>
                <a:latin typeface="Inter"/>
              </a:rPr>
              <a:t>The Stretch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5051077"/>
            <a:ext cx="7143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78716C"/>
                </a:solidFill>
                <a:latin typeface="Inter"/>
              </a:rPr>
              <a:t>Dictates parabola width and absolute vertical direction across all equation variants.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025" y="2546002"/>
            <a:ext cx="112395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1" u="none">
                <a:solidFill>
                  <a:srgbClr val="B91C1C"/>
                </a:solidFill>
                <a:latin typeface="Playfair Display"/>
              </a:rPr>
              <a:t>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54549" y="2785764"/>
            <a:ext cx="19050" cy="25969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18549" y="2785764"/>
            <a:ext cx="19050" cy="25969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687" y="3465165"/>
            <a:ext cx="428625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3365152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874" y="3365152"/>
            <a:ext cx="4762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DECISION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9144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Choosing the Right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151" y="4074765"/>
            <a:ext cx="35838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Visible 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481" y="4503390"/>
            <a:ext cx="341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Implement Vertex Form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4151" y="3974752"/>
            <a:ext cx="35838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Visible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480" y="4403377"/>
            <a:ext cx="34131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Implement Intercept Form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8150" y="3974752"/>
            <a:ext cx="35838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Inter"/>
              </a:rPr>
              <a:t>Three Coordinates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3480" y="4403377"/>
            <a:ext cx="34131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8716C"/>
                </a:solidFill>
                <a:latin typeface="Inter"/>
              </a:rPr>
              <a:t>Implement Standard Form algebraically.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7964" y="2771775"/>
            <a:ext cx="8576071" cy="809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AFAF9"/>
                </a:solidFill>
                <a:latin typeface="Playfair Display"/>
              </a:rPr>
              <a:t>Mastering the Parabola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6546" y="3810000"/>
            <a:ext cx="2678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8A29E"/>
                </a:solidFill>
                <a:latin typeface="Inter"/>
              </a:rPr>
              <a:t>Questions &amp;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7248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04400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0344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344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8060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8060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535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688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5840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402550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C1917"/>
                </a:solidFill>
                <a:latin typeface="Playfair Display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458217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Inter"/>
              </a:rPr>
              <a:t>https://images.squarespace-cdn.com/content/v1/54905286e4b050812345644c/3613e53e-4a48-46f0-bc0f-2cb84a68b9f2/Vertex-Graphic.jpg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658242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www.mashupmath.com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229742"/>
            <a:ext cx="7286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Inter"/>
              </a:rPr>
              <a:t>https://conceptviz.app/images/tools/parabola-graph-generator/parabola-standard-vs-vertex.webp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429767"/>
            <a:ext cx="214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conceptviz.app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001267"/>
            <a:ext cx="8774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Inter"/>
              </a:rPr>
              <a:t>https://www.siyavula.com/read/za/mathematics/grade-10/functions/images/67e1f7292a65ec49c1b85a25c2479edb.png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201292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www.siyavula.com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